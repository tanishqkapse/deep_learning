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54592" y="1312633"/>
            <a:ext cx="11181397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sz="4000" b="1" i="0" u="none" dirty="0">
                <a:solidFill>
                  <a:srgbClr val="FFFFFF"/>
                </a:solidFill>
                <a:latin typeface="Merriweather"/>
              </a:rPr>
              <a:t>Intelligent Security</a:t>
            </a:r>
            <a:r>
              <a:rPr sz="4000" dirty="0"/>
              <a:t>
</a:t>
            </a:r>
            <a:r>
              <a:rPr sz="4000" b="1" i="0" u="none" dirty="0">
                <a:solidFill>
                  <a:srgbClr val="38BDF8"/>
                </a:solidFill>
                <a:latin typeface="Merriweather"/>
              </a:rPr>
              <a:t>X-Ray Compliance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592" y="2863189"/>
            <a:ext cx="10345783" cy="716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879"/>
              </a:lnSpc>
            </a:pPr>
            <a:r>
              <a:rPr sz="1800" b="0" i="0" u="none" dirty="0">
                <a:solidFill>
                  <a:srgbClr val="94A3B8"/>
                </a:solidFill>
                <a:latin typeface="DM Sans"/>
              </a:rPr>
              <a:t>A dual-stream architecture combining Convolutional Neural Networks (CNNs) for real-time threat detection with Retrieval-Augmented Generation (RAG) for automated compliance auditing.</a:t>
            </a:r>
          </a:p>
        </p:txBody>
      </p:sp>
      <p:pic>
        <p:nvPicPr>
          <p:cNvPr id="5" name="Picture 4" descr="Vishwakarma_Institute_of_Technology.png">
            <a:extLst>
              <a:ext uri="{FF2B5EF4-FFF2-40B4-BE49-F238E27FC236}">
                <a16:creationId xmlns:a16="http://schemas.microsoft.com/office/drawing/2014/main" id="{41C61D93-F2FB-96D4-E0B9-5D6101042D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4212" y="199277"/>
            <a:ext cx="551444" cy="729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39D4B-79E4-1BF4-EF09-53DD30BC7E45}"/>
              </a:ext>
            </a:extLst>
          </p:cNvPr>
          <p:cNvSpPr txBox="1"/>
          <p:nvPr/>
        </p:nvSpPr>
        <p:spPr>
          <a:xfrm>
            <a:off x="3084943" y="-58981"/>
            <a:ext cx="6416802" cy="58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VISHWAKARMA INSTITUTE OF TECHNOLOGY,PUNE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52B29-1F32-7A46-66FB-9885EDBF8062}"/>
              </a:ext>
            </a:extLst>
          </p:cNvPr>
          <p:cNvSpPr txBox="1"/>
          <p:nvPr/>
        </p:nvSpPr>
        <p:spPr>
          <a:xfrm>
            <a:off x="1101184" y="414550"/>
            <a:ext cx="10384320" cy="569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76"/>
              </a:lnSpc>
              <a:spcBef>
                <a:spcPct val="0"/>
              </a:spcBef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DEPARTMENT OF COMPUTER SCIENCE ENGINEERING (ARTIFICIAL INTELLIGENCE </a:t>
            </a:r>
            <a:r>
              <a:rPr lang="en-US" sz="18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rPr>
              <a:t>)</a:t>
            </a:r>
          </a:p>
        </p:txBody>
      </p:sp>
      <p:graphicFrame>
        <p:nvGraphicFramePr>
          <p:cNvPr id="16" name="Table 18">
            <a:extLst>
              <a:ext uri="{FF2B5EF4-FFF2-40B4-BE49-F238E27FC236}">
                <a16:creationId xmlns:a16="http://schemas.microsoft.com/office/drawing/2014/main" id="{81DB6552-F27C-5BF7-2D0D-8E04C0ADC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5579"/>
              </p:ext>
            </p:extLst>
          </p:nvPr>
        </p:nvGraphicFramePr>
        <p:xfrm>
          <a:off x="1246031" y="4008860"/>
          <a:ext cx="4613883" cy="24345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48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956"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sym typeface="Times New Roman Bold"/>
                        </a:rPr>
                        <a:t>Roll no</a:t>
                      </a:r>
                      <a:endParaRPr lang="en-US" sz="100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Name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PRN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41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Pranav Khatod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12410595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28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Tanishq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sym typeface="Times New Roman Bold"/>
                        </a:rPr>
                        <a:t>Kapse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12412681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27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sym typeface="Times New Roman Bold"/>
                        </a:rPr>
                        <a:t>Raunak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sym typeface="Times New Roman Bold"/>
                        </a:rPr>
                        <a:t>Kanugo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12413472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956"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40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3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Omkar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sym typeface="Times New Roman Bold"/>
                        </a:rPr>
                        <a:t>Kharate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9"/>
                        </a:lnSpc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sym typeface="Times New Roman Bold"/>
                        </a:rPr>
                        <a:t>12411781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T="91440" marB="9144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9">
            <a:extLst>
              <a:ext uri="{FF2B5EF4-FFF2-40B4-BE49-F238E27FC236}">
                <a16:creationId xmlns:a16="http://schemas.microsoft.com/office/drawing/2014/main" id="{28D00FA3-28EC-2D4F-2442-C89ADC8770FC}"/>
              </a:ext>
            </a:extLst>
          </p:cNvPr>
          <p:cNvSpPr txBox="1"/>
          <p:nvPr/>
        </p:nvSpPr>
        <p:spPr>
          <a:xfrm>
            <a:off x="6803134" y="5181896"/>
            <a:ext cx="1141625" cy="43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DIV :- CSE(AI)-C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F3675011-92DD-E3B3-B458-94403D224E97}"/>
              </a:ext>
            </a:extLst>
          </p:cNvPr>
          <p:cNvSpPr txBox="1"/>
          <p:nvPr/>
        </p:nvSpPr>
        <p:spPr>
          <a:xfrm>
            <a:off x="6803134" y="4570020"/>
            <a:ext cx="1060401" cy="43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GROUP:- C-27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CBA811F1-AB4C-8E90-3F12-6368B067861B}"/>
              </a:ext>
            </a:extLst>
          </p:cNvPr>
          <p:cNvSpPr txBox="1"/>
          <p:nvPr/>
        </p:nvSpPr>
        <p:spPr>
          <a:xfrm>
            <a:off x="6803134" y="4008860"/>
            <a:ext cx="3274686" cy="444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rPr>
              <a:t>Project Guide :-  Prof. Anuradha </a:t>
            </a:r>
            <a:r>
              <a:rPr lang="en-US" sz="1400" b="1" dirty="0" err="1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rPr>
              <a:t>Yenkikar</a:t>
            </a:r>
            <a:endParaRPr lang="en-US" sz="1400" b="1" dirty="0">
              <a:solidFill>
                <a:schemeClr val="bg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691A0760-6E0C-F964-618F-A1E394437FE8}"/>
              </a:ext>
            </a:extLst>
          </p:cNvPr>
          <p:cNvSpPr txBox="1"/>
          <p:nvPr/>
        </p:nvSpPr>
        <p:spPr>
          <a:xfrm>
            <a:off x="6823733" y="5796686"/>
            <a:ext cx="2079603" cy="406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12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CP Presentation SEM-1- 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838325"/>
            <a:ext cx="3359199" cy="4305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74" y="1838325"/>
            <a:ext cx="3359199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24" y="1838325"/>
            <a:ext cx="3359199" cy="430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228850"/>
            <a:ext cx="666750" cy="666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" y="3133725"/>
            <a:ext cx="290708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Merriweather"/>
              </a:rPr>
              <a:t>Operator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619500"/>
            <a:ext cx="2768649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Human screeners experience cognitive overload and visual fatigue within 20 minutes, leading to missed threats when inspecting dense, cluttered luggage on fast-moving conveyor belts.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2228850"/>
            <a:ext cx="666750" cy="666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11749" y="3133725"/>
            <a:ext cx="290708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Merriweather"/>
              </a:rPr>
              <a:t>High False 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1749" y="3619500"/>
            <a:ext cx="2768649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Traditional legacy systems rely on rigid color/density thresholding. They frequently flag safe items (like laptops or dense organics) as threats, causing unnecessary manual bag checks.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699" y="2228850"/>
            <a:ext cx="666750" cy="66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6699" y="3133725"/>
            <a:ext cx="290708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Merriweather"/>
              </a:rPr>
              <a:t>Manual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699" y="3619500"/>
            <a:ext cx="2768649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DM Sans"/>
              </a:rPr>
              <a:t>When an edge-case item is found, operators must manually reference thick, constantly updating TSA/ICAO regulation handbooks, slowing down the checkpoint significantly.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862" y="2390775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674" y="2390775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8624" y="2390775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1525" y="581025"/>
            <a:ext cx="1118139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Merriweather"/>
              </a:rPr>
              <a:t>Drawbacks of Current Security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525" y="1295400"/>
            <a:ext cx="106489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085975"/>
            <a:ext cx="503872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525" y="1733550"/>
            <a:ext cx="46577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Computer Vision (CNN) Engine: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Utilizes a fine-tuned CNN architecture to instantly detect, segment, and place bounding boxes around prohibited items (weapons, liquids, batteries) even when severely occluded.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525" y="3543300"/>
            <a:ext cx="46577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Regulatory RAG Pipeline: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Instead of just flagging a threat, the system queries a vectorized database of aviation security laws using Retrieval-Augmented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525" y="5048250"/>
            <a:ext cx="4657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Actionable Intelligence: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The engine outputs a precise advisory: </a:t>
            </a:r>
            <a:r>
              <a:rPr sz="1500" b="0" i="1" u="none">
                <a:solidFill>
                  <a:srgbClr val="CBD5E1"/>
                </a:solidFill>
                <a:latin typeface="DM Sans"/>
              </a:rPr>
              <a:t>"Lithium battery detected. Refer to ICAO Protocol 4.2 for safe removal and containment."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2095500"/>
            <a:ext cx="5019675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581025"/>
            <a:ext cx="1118139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Merriweather"/>
              </a:rPr>
              <a:t>The Solution: Deep Learning +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1295400"/>
            <a:ext cx="106489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752600"/>
            <a:ext cx="1238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562350"/>
            <a:ext cx="1238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67300"/>
            <a:ext cx="1238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19064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Merriweather"/>
              </a:rPr>
              <a:t>Pipeline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9525"/>
            <a:ext cx="6078022" cy="6848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1724025"/>
            <a:ext cx="4657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1. Ingestion &amp; Preprocessing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Dual-energy X-ray images are captured, normalized, and scaled for deep learning ingestion.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724025"/>
            <a:ext cx="28575" cy="914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775" y="2876550"/>
            <a:ext cx="4657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2. Feature Extraction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CNN layers extract spatial features, identifying the distinct metallic and organic signatures of threats.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2876550"/>
            <a:ext cx="28575" cy="914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775" y="4029075"/>
            <a:ext cx="4657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3. LLM/RAG Integration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The detected class triggers a similarity search against embedded regulatory manuals.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4029075"/>
            <a:ext cx="28575" cy="914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6775" y="5181600"/>
            <a:ext cx="4657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1F5F9"/>
                </a:solidFill>
                <a:latin typeface="DM Sans"/>
              </a:rPr>
              <a:t>4. Dashboard Output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DM Sans"/>
              </a:rPr>
              <a:t> Operators view the augmented image alongside automated, legally compliant handling instructions.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5181600"/>
            <a:ext cx="28575" cy="914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583185"/>
            <a:ext cx="1064895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2341364"/>
            <a:ext cx="9525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DM Sans"/>
              </a:rPr>
              <a:t>By merging visual detection with automated legal retrieval, this engine transforms a reactive screening process into a proactive, highly efficient security 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6900" y="3849885"/>
            <a:ext cx="2457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38BDF8"/>
                </a:solidFill>
                <a:latin typeface="Merriweather"/>
              </a:rPr>
              <a:t>↓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6900" y="5816797"/>
            <a:ext cx="2457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94A3B8"/>
                </a:solidFill>
                <a:latin typeface="DM Sans"/>
              </a:rPr>
              <a:t>FALSE ALARMS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701" y="4068960"/>
            <a:ext cx="39147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38BDF8"/>
                </a:solidFill>
                <a:latin typeface="Merriweather"/>
              </a:rPr>
              <a:t>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700" y="5850967"/>
            <a:ext cx="391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94A3B8"/>
                </a:solidFill>
                <a:latin typeface="DM Sans"/>
              </a:rPr>
              <a:t>INFERENCE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7826" y="4068960"/>
            <a:ext cx="24669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38BDF8"/>
                </a:solidFill>
                <a:latin typeface="Merriweather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1525" y="5850967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94A3B8"/>
                </a:solidFill>
                <a:latin typeface="DM Sans"/>
              </a:rPr>
              <a:t>PROTOCOL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81025"/>
            <a:ext cx="1118139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Merriweather"/>
              </a:rPr>
              <a:t>System Impact &amp; Advantages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525" y="1295400"/>
            <a:ext cx="1064895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406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Canva Sans Bold</vt:lpstr>
      <vt:lpstr>DM Sans</vt:lpstr>
      <vt:lpstr>Lato</vt:lpstr>
      <vt:lpstr>Lato Bold</vt:lpstr>
      <vt:lpstr>Merriweather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Khatod</cp:lastModifiedBy>
  <cp:revision>2</cp:revision>
  <dcterms:created xsi:type="dcterms:W3CDTF">2013-01-27T09:14:16Z</dcterms:created>
  <dcterms:modified xsi:type="dcterms:W3CDTF">2026-08-18T16:03:53Z</dcterms:modified>
  <cp:category/>
</cp:coreProperties>
</file>